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600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800">
                <a:solidFill>
                  <a:srgbClr val="FFFFFF"/>
                </a:solidFill>
              </a:rPr>
              <a:t>Star Publications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76272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200">
                <a:solidFill>
                  <a:srgbClr val="C5CAE9"/>
                </a:solidFill>
              </a:rPr>
              <a:t>Desktop Publication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9FA8DA"/>
                </a:solidFill>
              </a:rPr>
              <a:t>C# 12  ·  WPF  ·  Entity Framework Core 8  ·  MVVM  ·  SQL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9FA8DA"/>
                </a:solidFill>
              </a:rPr>
              <a:t>C# Final Project  —  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Project Objective &amp;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What was built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43000"/>
            <a:ext cx="5577840" cy="539496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A237E"/>
                </a:solidFill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66420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44"/>
                </a:solidFill>
              </a:rPr>
              <a:t>Build a fully functional, multi-subsystem Windows desktop application demonstrating professional software architecture, database integration, and modern UI design using the Microsoft .NET ecosystem.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6060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7E"/>
                </a:solidFill>
              </a:rPr>
              <a:t>Three subsystems delivered: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Sales Order Management — full CRUD with validation &amp; composite-key detection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Book Search — browse full catalogue, filter by title / genre / publisher / author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Publisher Search — browse all publishers, view published titles &amp; PR info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General UX — persistent status bar, busy indicator, inline error messages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943600" cy="539496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61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A237E"/>
                </a:solidFill>
              </a:rPr>
              <a:t>Project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7190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Language: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719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C# 12 on .NET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UI Framework: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103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WPF — Windows Presentation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87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Pattern: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4871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MVVM — zero code-behind in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87121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ORM: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87121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Entity Framework Core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5526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Database: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25526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SQL Server / LocalDB  (pubs schema)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63931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IDE: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63931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Visual Studio 2022  (.slnx solution)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0233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Views: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02335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4 XAML Views  (Main + 3 subsystems)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4074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ViewModels: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407407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5  (Main + 3 feature VMs + BaseViewModel)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79145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Models: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79145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7 EF Core model 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7550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1A237E"/>
                </a:solidFill>
              </a:rPr>
              <a:t>DB Script: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517550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setup_pubs.sql — idempotent seed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MVVM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Strict separation of concerns across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43000"/>
            <a:ext cx="1033272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188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Views  (XAML)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188720"/>
            <a:ext cx="5760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8EAF6"/>
                </a:solidFill>
              </a:rPr>
              <a:t>MainWindow · SalesOrderView · BookSearchView · PublisherSearchView
Zero code-behind — bound exclusively to ViewModels via data binding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2057400"/>
            <a:ext cx="2286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0574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3949AB"/>
                </a:solidFill>
              </a:rPr>
              <a:t>▼  Data Binding  (INotifyPropertyChanged)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95144"/>
            <a:ext cx="10332720" cy="91440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40863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ViewModels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40863"/>
            <a:ext cx="5760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8EAF6"/>
                </a:solidFill>
              </a:rPr>
              <a:t>MainViewModel · SalesOrderViewModel · BookSearchViewModel · PublisherSearchViewModel
BaseViewModel implements INotifyPropertyChanged + SetProperty helper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209544"/>
            <a:ext cx="2286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320954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3949AB"/>
                </a:solidFill>
              </a:rPr>
              <a:t>▼  EF Core Queries / RelayCommand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447287"/>
            <a:ext cx="10332720" cy="914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493007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Data Layer  (EF 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93007"/>
            <a:ext cx="5760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8EAF6"/>
                </a:solidFill>
              </a:rPr>
              <a:t>PubsDbContext · DbContextFactory · appsettings.json
Fluent API configuration, navigation properties, LINQ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4361688"/>
            <a:ext cx="2286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436168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900">
                <a:solidFill>
                  <a:srgbClr val="3949AB"/>
                </a:solidFill>
              </a:rPr>
              <a:t>▼  ADO.NET / SQL connection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99431"/>
            <a:ext cx="10332720" cy="914400"/>
          </a:xfrm>
          <a:prstGeom prst="rect">
            <a:avLst/>
          </a:prstGeom>
          <a:solidFill>
            <a:srgbClr val="789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4515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SQL Server / LocalDB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645151"/>
            <a:ext cx="5760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00">
                <a:solidFill>
                  <a:srgbClr val="E8EAF6"/>
                </a:solidFill>
              </a:rPr>
              <a:t>pubs schema:  publishers · titles · authors · title_authors · stores · sales
Composite PKs: sales(stor_id, ord_num, title_id) · titleauthor(au_id, title_id)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46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3949AB"/>
                </a:solidFill>
              </a:rPr>
              <a:t>Workflow:  User interacts with View  →  ViewModel executes RelayCommand  →  EF Core queries SQL Server  →  result bound back to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Sales Order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Full CRUD — View, Search, Add, Edit, Delete</a:t>
            </a:r>
          </a:p>
        </p:txBody>
      </p:sp>
      <p:pic>
        <p:nvPicPr>
          <p:cNvPr id="5" name="Picture 4" descr="sales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21792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7E"/>
                </a:solidFill>
              </a:rPr>
              <a:t>Key capabilities: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Loads all orders on startup — store name &amp; book title via EF navigation properties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Search by Order # or Store ID — partial substring matching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Add New — inline slide-in form with required-field validation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Edit — form pre-populated with selected row's data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Delete — confirmation dialog before removal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Composite-key duplicate detection: stor_id + ord_num + title_id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Status bar reports count after every Load / Search / Save / Delete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Adding a New Sales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Inline form with validation and composite-key duplicate detection</a:t>
            </a:r>
          </a:p>
        </p:txBody>
      </p:sp>
      <p:pic>
        <p:nvPicPr>
          <p:cNvPr id="5" name="Picture 4" descr="add_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21792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7E"/>
                </a:solidFill>
              </a:rPr>
              <a:t>Add / Edit flow: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• Click Add New to open the inline slide-in form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• RelayCommand.canExecute disables Save until the form is valid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• Validation rules in SalesOrderViewModel.Validate():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  · Store required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  · Order # required, max 20 characters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  · Quantity &gt; 0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  · Payment terms required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  · Title required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• Duplicate check queries the DB before INSERT to prevent constraint violation</a:t>
            </a:r>
          </a:p>
          <a:p>
            <a:pPr algn="l"/>
            <a:r>
              <a:rPr sz="1200">
                <a:solidFill>
                  <a:srgbClr val="333344"/>
                </a:solidFill>
              </a:rPr>
              <a:t>• TryExecute() wrapper manages IsLoading state &amp; catches DB exceptions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Order Saved — Grid Refreshes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New row highlighted at the top after a successful save</a:t>
            </a:r>
          </a:p>
        </p:txBody>
      </p:sp>
      <p:pic>
        <p:nvPicPr>
          <p:cNvPr id="5" name="Picture 4" descr="order_ad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21792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7E"/>
                </a:solidFill>
              </a:rPr>
              <a:t>After saving: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After Save, the form closes and LoadData() reloads the grid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Newly added row appears highlighted (selected) at the top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Status bar confirms 'Sales order added successfully'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Edit follows the same flow — only date, qty, and pay terms are editable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Cancel at any time discards changes and collapses the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Book Search &amp;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Browse the full catalogue and inspect title details</a:t>
            </a:r>
          </a:p>
        </p:txBody>
      </p:sp>
      <p:pic>
        <p:nvPicPr>
          <p:cNvPr id="5" name="Picture 4" descr="book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21792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7E"/>
                </a:solidFill>
              </a:rPr>
              <a:t>Key capabilities: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Full catalogue loaded on startup via EF Core with publisher navigation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Four independent search filters: Title · Type/Genre · Publisher · Author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All filters are partial-match (SQL LIKE) — combinable in a single query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Load All button resets filters and reloads the full list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Selecting any row reveals the Book Details panel (right side):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  · Lists all co-authors of the selected title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  · Lists all stores where the title has been sold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Status bar shows filter result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Publisher Search &amp;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Browse publishers and view their catalogue and PR information</a:t>
            </a:r>
          </a:p>
        </p:txBody>
      </p:sp>
      <p:pic>
        <p:nvPicPr>
          <p:cNvPr id="5" name="Picture 4" descr="publish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6217920" cy="4617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18872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>
                <a:solidFill>
                  <a:srgbClr val="1A237E"/>
                </a:solidFill>
              </a:rPr>
              <a:t>Key capabilities: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All publishers listed on startup from the publishers table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Search by Name · City · State · Country — partial match, combinable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Load All resets all filters and reloads the complete list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Selecting a publisher row populates the Publisher Details panel: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  · Publisher ID, name, city, state, country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  · Published Titles list with prices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  · About the Publisher — PR description from pub_info table</a:t>
            </a:r>
          </a:p>
          <a:p>
            <a:pPr algn="l"/>
            <a:r>
              <a:rPr sz="1300">
                <a:solidFill>
                  <a:srgbClr val="333344"/>
                </a:solidFill>
              </a:rPr>
              <a:t>• Status bar confirms navigation and search result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Tools and frameworks used to build Star Publications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C# 12 / .NET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550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Core language and runtime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9844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WPF — Windows Presentation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5506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Desktop UI; XAML templates, styles, value converters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31720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Entity Framework Core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523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ORM for SQL Server — Fluent API, nav properties, LINQ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331720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MVVM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523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Strict separation; Views are pure XAML, no code-behind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429000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930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RelayCommand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496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Generic ICommand — wraps any method in one line for XAML binding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429000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9300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Microsoft.Extensions.Configuration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496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Loads appsettings.json connection string at runtime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526279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902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SQL Server / LocalDB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946903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Relational DB — classic pubs schema with seed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26279"/>
            <a:ext cx="5760720" cy="96012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5902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Visual Studio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946903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IDE with .slnx solution format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Architectural choices and their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6128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4358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A237E"/>
                </a:solidFill>
              </a:rPr>
              <a:t>Why MVVM?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9105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44"/>
                </a:solidFill>
              </a:rPr>
              <a:t>Views are purely XAML — zero code-behind. ViewModels can be unit-tested independently of the UI. Swapping or redesigning a View requires no logic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12848"/>
            <a:ext cx="116128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A237E"/>
                </a:solidFill>
              </a:rPr>
              <a:t>Why a per-operation DbContext factory?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1518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44"/>
                </a:solidFill>
              </a:rPr>
              <a:t>Avoids long-lived contexts. Each DB call creates a fresh PubsDbContext, preventing stale-entity tracking issues and connection-pool exhaustion.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36976"/>
            <a:ext cx="116128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291840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A237E"/>
                </a:solidFill>
              </a:rPr>
              <a:t>Why composite primary keys on Sales &amp; TitleAuthor?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3931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44"/>
                </a:solidFill>
              </a:rPr>
              <a:t>Mirrors the real-world pubs schema constraints. Enforced at the database level and the application level — a duplicate check runs before every INSERT.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61104"/>
            <a:ext cx="116128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1596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A237E"/>
                </a:solidFill>
              </a:rPr>
              <a:t>Why RelayCommand?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6344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44"/>
                </a:solidFill>
              </a:rPr>
              <a:t>Eliminates boilerplate ICommand implementations. Any method — including canExecute predicates — is wrapped in a single line and bound directly in XAML.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85232"/>
            <a:ext cx="11612880" cy="914400"/>
          </a:xfrm>
          <a:prstGeom prst="rect">
            <a:avLst/>
          </a:prstGeom>
          <a:solidFill>
            <a:srgbClr val="F5F6FA"/>
          </a:solidFill>
          <a:ln w="635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340096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1A237E"/>
                </a:solidFill>
              </a:rPr>
              <a:t>Why does MainViewModel own the child ViewModels?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68756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44"/>
                </a:solidFill>
              </a:rPr>
              <a:t>Provides centralized status-bar aggregation across all subsystems and enables single-window navigation without WPF frames, pages, or a navigation 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800">
                <a:solidFill>
                  <a:srgbClr val="FFFFFF"/>
                </a:solidFill>
              </a:rPr>
              <a:t>10 – 15 Minute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566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C5CAE9"/>
                </a:solidFill>
              </a:rPr>
              <a:t>Live demonstration flow for the instructor session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1252728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261872"/>
            <a:ext cx="868680" cy="2743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26187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15361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Introduce the project title, objective, and MVVM architecture diagram on the poster.</a:t>
            </a:r>
          </a:p>
        </p:txBody>
      </p:sp>
      <p:sp>
        <p:nvSpPr>
          <p:cNvPr id="11" name="Oval 10"/>
          <p:cNvSpPr/>
          <p:nvPr/>
        </p:nvSpPr>
        <p:spPr>
          <a:xfrm>
            <a:off x="228600" y="2121408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0848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130552"/>
            <a:ext cx="868680" cy="2743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3055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3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Sales Order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240487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Load all orders → search by order number → add a new order → edit date/qty → delete with confirmation.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990088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295351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999232"/>
            <a:ext cx="868680" cy="2743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9923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3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926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Book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27355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Search by author name → select a book row → show the detail panel (authors &amp; store availability).</a:t>
            </a:r>
          </a:p>
        </p:txBody>
      </p:sp>
      <p:sp>
        <p:nvSpPr>
          <p:cNvPr id="23" name="Oval 22"/>
          <p:cNvSpPr/>
          <p:nvPr/>
        </p:nvSpPr>
        <p:spPr>
          <a:xfrm>
            <a:off x="228600" y="3858768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8221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3867912"/>
            <a:ext cx="868680" cy="2743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86791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2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19072" y="3794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Publisher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41422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Search by city → select a publisher → detail panel shows titles with prices and PR description.</a:t>
            </a:r>
          </a:p>
        </p:txBody>
      </p:sp>
      <p:sp>
        <p:nvSpPr>
          <p:cNvPr id="29" name="Oval 28"/>
          <p:cNvSpPr/>
          <p:nvPr/>
        </p:nvSpPr>
        <p:spPr>
          <a:xfrm>
            <a:off x="228600" y="4727448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4690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" y="4736592"/>
            <a:ext cx="868680" cy="2743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73659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2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9072" y="4663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Code Walk-through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9072" y="501091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Show SalesOrderViewModel.cs: RelayCommand wiring, TryExecute() wrapper, DbContextFactory, Validate().</a:t>
            </a:r>
          </a:p>
        </p:txBody>
      </p:sp>
      <p:sp>
        <p:nvSpPr>
          <p:cNvPr id="35" name="Oval 34"/>
          <p:cNvSpPr/>
          <p:nvPr/>
        </p:nvSpPr>
        <p:spPr>
          <a:xfrm>
            <a:off x="228600" y="5596128"/>
            <a:ext cx="411480" cy="411480"/>
          </a:xfrm>
          <a:prstGeom prst="ellipse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55595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" y="5605272"/>
            <a:ext cx="868680" cy="274320"/>
          </a:xfrm>
          <a:prstGeom prst="rect">
            <a:avLst/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605272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</a:rPr>
              <a:t>2–3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9072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1A237E"/>
                </a:solidFill>
              </a:rPr>
              <a:t>Q&amp;A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9072" y="58795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44"/>
                </a:solidFill>
              </a:rPr>
              <a:t>Design decisions: MVVM rationale, per-operation DbContext, composite keys, single-window navigation.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00">
                <a:solidFill>
                  <a:srgbClr val="3949AB"/>
                </a:solidFill>
              </a:rPr>
              <a:t>Tip: Keep the poster beside you — refer to the architecture diagram and feature table as you speak.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